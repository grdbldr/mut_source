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9144000" cy="64008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0"/>
            <a:ext cx="8686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KAERI Modelling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56032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D0DCE8"/>
                </a:solidFill>
                <a:latin typeface="Calibri"/>
              </a:rPr>
              <a:t>Direction and 2026 development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114800"/>
            <a:ext cx="8686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Integrated groundwater, surface-water and conduit flow for KURT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MUT · MODFLOW-USG · QGIS · Tecplot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Current MUT release: 2025.026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B0C0D0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3796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B0C0D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Purpose - Supporting KURT engineering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The KAERI/KURT assessment needs a reproducible path from site GIS into a coupled flow model that can represent regional groundwater, overland response to rainfall, and engineered conduits or shafts.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QGIS organises DEMs and spatial layers; MUT translates those into MODFLOW-USG inputs; usgs_1 solves the flow system; Tecplot and the model dossier communicate water levels, exchange fluxes and budgets for engineering review.</a:t>
            </a:r>
          </a:p>
        </p:txBody>
      </p:sp>
      <p:pic>
        <p:nvPicPr>
          <p:cNvPr id="5" name="Picture 4" descr="QGIS_ProjectD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3217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040852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Example project DEM prepared in QGIS for regional model construction.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Coupled domains - Groundwater, surface water and conduits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Engineering questions at KURT are rarely single-domain. Rainfall first wets the surface (SWF), infiltrates to the porous medium (GWF), and may interact with discrete conduits or shafts (CLN).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The 2026 toolchain builds these domains on a shared mesh so exchange fluxes, heads and budgets can be examined together rather than as separate models stitched after the fact.</a:t>
            </a:r>
          </a:p>
        </p:txBody>
      </p:sp>
      <p:pic>
        <p:nvPicPr>
          <p:cNvPr id="5" name="Picture 4" descr="3_26_SWF_GW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293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375424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SWF surface cells overlying the GWF mesh - dual-domain exchange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Rainfall and surface forcing - Zones, transient recharge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Surface hydrology for engineering design needs spatially varying rainfall and controllable boundary heads. MUT now supports multi-zone SWF transient recharge (merged RTS columns and matching RCH zone maps), reports whether each stress period uses RCH or RTS, and writes CLN/SWF constant-head boundaries as start-to-end head ramps so engineered water levels can be imposed consistently through a simulation.</a:t>
            </a:r>
          </a:p>
        </p:txBody>
      </p:sp>
      <p:pic>
        <p:nvPicPr>
          <p:cNvPr id="5" name="Picture 4" descr="3_35_SWFRech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293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375424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Applied SWF recharge mapped on the surface domain for review in Tecplot.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Spatio-temporal recharge - Raster snapshots for transient 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For storms and spatially migrating rainfall fields, General Spatio-Temporal Recharge (GSTR) assigns ArcASCII raster snapshots to named GWF, SWF or CLN instances and interpolates rates in time. Existing RCH/RTS packages remain available; when both are active the fluxes add.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 KURT demonstration lives under the transient-rainfall GSTR test model. The figure shows applied recharge from the related RTS workflow used to evaluate surface response.</a:t>
            </a:r>
          </a:p>
        </p:txBody>
      </p:sp>
      <p:pic>
        <p:nvPicPr>
          <p:cNvPr id="5" name="Picture 4" descr="1_RTS_Applied_RCH_with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4635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5457988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Applied recharge field from the KURT transient-rainfall RTS review (proxy for GSTR-style spatial forcing).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KURT 4_GSTR example - Circular storm applied to SWF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8686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The TestTransientRainfall/4_GSTR model drives SWF recharge with named GSTR instance StormEW: ArcASCII storm rasters are interpolated in time and applied on the surface domain. Post-processing writes cell-by-cell applied rates (_posto.modflow.SWF_GSTR.tecplot.dat) and a domain-mean time series. The maps below show the peak applied-rate field (t = 0.375 d) and the short storm pulse in mean GSTR before rates return to zero for the remainder of the run.</a:t>
            </a:r>
          </a:p>
        </p:txBody>
      </p:sp>
      <p:pic>
        <p:nvPicPr>
          <p:cNvPr id="5" name="Picture 4" descr="GSTR_AppliedRat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31720"/>
            <a:ext cx="4229100" cy="3578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955909"/>
            <a:ext cx="42291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Applied SWF GSTR rate at peak mean (StormEW, t = 0.375 d)</a:t>
            </a:r>
          </a:p>
        </p:txBody>
      </p:sp>
      <p:pic>
        <p:nvPicPr>
          <p:cNvPr id="7" name="Picture 6" descr="GSTR_MeanRate_vs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331720"/>
            <a:ext cx="4229100" cy="27326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86300" y="5110089"/>
            <a:ext cx="42291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Domain-mean applied GSTR rate vs time (first 2 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Evapotranspiration in MODFLOW-USG - Head-dependent plant and soil water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usgs_1 (MODFLOW-USG / USG-Transport) already provides classical groundwater ET packages that remove water from the saturated zone as a function of water-table position. The EVT package applies a maximum ET rate that declines linearly to zero over an extinction depth below a specified ET surface. The ETS package extends this with a segmented (piecewise) ET-versus-depth curve for non-linear plant uptake.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EVT can also take time-varying maximum rates (ETS keyword / time-series option) so seasonal potential ET can be imposed. These packages act on GWF nodes and appear as budget terms when activated - the practical path today for regional ET sinks alongside rainfall recharge.</a:t>
            </a:r>
          </a:p>
        </p:txBody>
      </p:sp>
      <p:pic>
        <p:nvPicPr>
          <p:cNvPr id="5" name="Picture 4" descr="GWF_Water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384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668316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Regional water-table surface - ET demand in EVT/ETS is controlled by proximity to the land surface / extinction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Evapotranspiration in MUT - Database scaffolding, writers still to 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MUT can load an ET parameter database (et database) whose fields mirror an HGS-style plant/soil ET concept: evaporation and root depths, LAI tables, wilting point and field capacity, oxic/anoxic limits, and canopy interception storage. Sparse ET material IDs are supported alongside GWF/CLN/SWF databases.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However, ET.xlsx / LAI.xlsx remain placeholders for future development: MUT does not yet assign ET zones to cells or write EVT/ETS package files. Name-file recognition of EVT/EVS/ETS exists for reading external datasets, but the KURT workflow today is rainfall and infiltration without an automated MUT-driven ET sink. Closing the gap means mapping the ET database (or a simpler EVT/ETS instruction set) onto usgs_1 package writers and exposing ET in volume-budget and Tecplot review.</a:t>
            </a:r>
          </a:p>
        </p:txBody>
      </p:sp>
      <p:pic>
        <p:nvPicPr>
          <p:cNvPr id="5" name="Picture 4" descr="GWF_Volume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384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668316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Current KURT volume-budget dossier frame - ET package terms appear only when EVT/ETS are active in usgs_1.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Conduits and shafts - Building CLN from the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Engineered openings and discrete pathways are represented with the Connected Linear Network (CLN). Development this year focused on intersecting conduit polylines with GWF/SWF element faces, preserving network connectivity, and connecting CLN nodes to the groundwater mesh for simple and shaft-style configurations.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Conduits can also be rebuilt from a structure file with a companion coordinate list for geometry checks.</a:t>
            </a:r>
          </a:p>
        </p:txBody>
      </p:sp>
      <p:pic>
        <p:nvPicPr>
          <p:cNvPr id="5" name="Picture 4" descr="3_36_C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293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375424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CLN conduits shown with the surrounding porous-medium mesh.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CLN hydraulic detailing - Skin, geometry and initial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Once the conduit geometry exists, hydraulic behaviour must match the engineering concept. Per-cell skin conductivity (FSKIN) defaults from connected GWF horizontal conductivity, general tabular cross-sections support non-circular conduits, and initial CLN heads can be set from the land surface via column tops - a practical starting condition for shafts that daylight at topography.</a:t>
            </a:r>
          </a:p>
        </p:txBody>
      </p:sp>
      <p:pic>
        <p:nvPicPr>
          <p:cNvPr id="5" name="Picture 4" descr="MUT_InitialCLN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674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49725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CLN initial heads assigned from surface elevation / GWF column tops.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Velocity and pathways - Darcy and average-linear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Flow interpretation and future solute transport both need velocities, not only heads. Builds now emit a default VEL package for active GWF, CLN and SWF domains. Post-processing writes Darcy and average-linear velocity components for Tecplot; porosity (and CLN infill porosity where used) converts Darcy flux to pore velocity.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An optional original SWF Manning velocity path remains available for continuity with HGS-style surface flow.</a:t>
            </a:r>
          </a:p>
        </p:txBody>
      </p:sp>
      <p:pic>
        <p:nvPicPr>
          <p:cNvPr id="5" name="Picture 4" descr="GWF_Water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384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668316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Regional water-table iso-surface from the KURT average-rainfall model dossier.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Communicating results - Tecplot SZL and model dossiers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Engineering review depends on clear maps of saturation, infiltration, water table and volume budgets. Finite-element results default to compact TecIO SZL files with all output times.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After build or post-processing, mut_document writes a model dossier PDF and sectioned Tecplot layouts - including dedicated views for volume budget, water table, SWF-to-GWF infiltration and saturation slices - so reviewers see the same figures the modeller used.</a:t>
            </a:r>
          </a:p>
        </p:txBody>
      </p:sp>
      <p:pic>
        <p:nvPicPr>
          <p:cNvPr id="5" name="Picture 4" descr="4_16_Infil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29768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Example SWF-to-GWF infiltration map used in post-processed hillslope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Regional KURT illustration - Mesh, water table and infiltration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86868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The regional average-rainfall KURT model exercises the full stack on site-scale geometry: dual-domain mesh, transient surface response, and groundwater storage. Side-by-side dossier frames below illustrate how mesh structure, water-table position and infiltration patterns are delivered together for engineering discussion.</a:t>
            </a:r>
          </a:p>
        </p:txBody>
      </p:sp>
      <p:pic>
        <p:nvPicPr>
          <p:cNvPr id="5" name="Picture 4" descr="GWF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94560"/>
            <a:ext cx="2804160" cy="2068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4309126"/>
            <a:ext cx="2804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GWF mesh / domain overview</a:t>
            </a:r>
          </a:p>
        </p:txBody>
      </p:sp>
      <p:pic>
        <p:nvPicPr>
          <p:cNvPr id="7" name="Picture 6" descr="GWF_Water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0" y="2194560"/>
            <a:ext cx="2804160" cy="20688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69920" y="4309126"/>
            <a:ext cx="2804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Water-table surface</a:t>
            </a:r>
          </a:p>
        </p:txBody>
      </p:sp>
      <p:pic>
        <p:nvPicPr>
          <p:cNvPr id="9" name="Picture 8" descr="SWF_Infil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0" y="2194560"/>
            <a:ext cx="2804160" cy="20688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11240" y="4309126"/>
            <a:ext cx="2804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SWF-to-GWF infiltration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Verification practice - Confidence from known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8686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Before relying on regional forecasts, the same toolchain is checked against published and in-house flow problems (Abdul hillslope, SWF critical-depth and CLN-for-SWF cases). Outflow and depth comparisons against accepted solutions provide engineering confidence that surface–subsurface coupling and conduit representations behave as intended when rainfall, outlets and materials are known.</a:t>
            </a:r>
          </a:p>
        </p:txBody>
      </p:sp>
      <p:pic>
        <p:nvPicPr>
          <p:cNvPr id="5" name="Picture 4" descr="Outflo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31720"/>
            <a:ext cx="4229100" cy="24758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4853321"/>
            <a:ext cx="42291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Abdul outlet hydrograph comparison</a:t>
            </a:r>
          </a:p>
        </p:txBody>
      </p:sp>
      <p:pic>
        <p:nvPicPr>
          <p:cNvPr id="7" name="Picture 6" descr="Outflow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331720"/>
            <a:ext cx="4229100" cy="24803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86300" y="4857798"/>
            <a:ext cx="42291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CLN-for-SWF outflow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Future capability - Discrete Fracture Network (DFN)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KURT fracture zones are naturally represented as discrete 2D flow surfaces embedded in 3D porous rock, not as continuum smearing alone and not as 1D pipes. A new medium, DFN, would sit alongside GWF, CLN and SWF: planar fracture elements with aperture and transmissivity, exchanging water (and later solute) with the surrounding GWF matrix.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CLN remains the right tool for shafts and tubular conduits; DFN targets sheet-like fractures imported from site STL/GIS fracture surfaces (as in the KURT incoming fracture set).</a:t>
            </a:r>
          </a:p>
        </p:txBody>
      </p:sp>
      <p:pic>
        <p:nvPicPr>
          <p:cNvPr id="5" name="Picture 4" descr="fra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46318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5454761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KURT fracture surfaces (incoming STL set) - candidate geometry for a DFN medium.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Implementing DFN - Steps for 2D fracture flow and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1. Design - Equations, aperture/T properties, DFN-GWF exchange; NAM type and IDOMAIN code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2. usgs_1 flow - Domain arrays, matrix assembly, budgets, binary heads/fluxes (patterned on CLN/SWF)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3. Geometry - Import fracture surfaces; intersect/mesh onto GWF; write DFN GSF connectivity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4. MUT - Domain, DFN materials DB, _build.mut verbs, package writers, Tecplot/dossier views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5. Transport - BCT (or equivalent) on DFN nodes; matrix exchange; CON save and observations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6. Verify - Single-fracture flow then transport; multi-fracture KURT case against a known solution</a:t>
            </a:r>
          </a:p>
        </p:txBody>
      </p:sp>
      <p:pic>
        <p:nvPicPr>
          <p:cNvPr id="5" name="Picture 4" descr="3_38_CLN_GWF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293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375424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Analogue: CLN-GWF coupling today - DFN would add planar fracture-matrix exchange in the same multi-domain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Gaps and next direction - Aligning solvers, ET writers and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The flow modelling stack is usable today at MUT 2025.026, but a few pieces still need aligned USG builds: velocity post-processing requires a usgs_1 that recognises the VEL name-file type, and GSTR rates must be solved by a USG-Beta build that includes the GSTR package. MUT ET package writers (EVT/ETS from the existing ET database or a simpler instruction set) are still future work.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Further ahead: SWF/GWF solute transport (Abdul path) and a new DFN medium for 2D fracture flow and transport on KURT fracture surfaces.</a:t>
            </a:r>
          </a:p>
        </p:txBody>
      </p:sp>
      <p:pic>
        <p:nvPicPr>
          <p:cNvPr id="5" name="Picture 4" descr="4_5_Post_Abd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2931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3754240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Abdul hillslope post-processed results - candidate platform for transport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8686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Discussion - Priorities for the next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3291840" cy="5394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With the 2026 flow capabilities in place, the meeting should set priorities for KURT delivery: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1. Deepen rainfall and GSTR workflows for regional transient forcing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2. Add MUT writers for MODFLOW EVT/ETS (or fuller HGS-style ET) so regional water balances include plant/soil water loss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3. Extend shaft / CLN engineering detail on the regional mesh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4. Advance surface-subsurface transport (Abdul verification path)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5. Scope DFN (2D discrete fracture flow and transport) against KURT fracture geometry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6. Agree which usgs_1 build is the project standard for VEL and GSTR</a:t>
            </a:r>
          </a:p>
        </p:txBody>
      </p:sp>
      <p:pic>
        <p:nvPicPr>
          <p:cNvPr id="5" name="Picture 4" descr="GWF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212080" cy="3952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775454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>Example regional GWF results frame from the KURT model dossier.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65379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37960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KAERI modelling direction · MUT 2025.026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