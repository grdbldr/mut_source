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87" r:id="rId4"/>
    <p:sldId id="290" r:id="rId5"/>
    <p:sldId id="289" r:id="rId6"/>
    <p:sldId id="272" r:id="rId7"/>
    <p:sldId id="288" r:id="rId8"/>
    <p:sldId id="292" r:id="rId9"/>
    <p:sldId id="293" r:id="rId10"/>
    <p:sldId id="291" r:id="rId11"/>
    <p:sldId id="294" r:id="rId12"/>
    <p:sldId id="25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11ECE6-6A85-40DD-BE6C-4981FCD248F0}">
          <p14:sldIdLst>
            <p14:sldId id="257"/>
          </p14:sldIdLst>
        </p14:section>
        <p14:section name="Defining the Template Mesh" id="{0AE33677-7A43-44EC-9E66-5F5AE85900A6}">
          <p14:sldIdLst>
            <p14:sldId id="258"/>
            <p14:sldId id="287"/>
            <p14:sldId id="290"/>
            <p14:sldId id="289"/>
            <p14:sldId id="272"/>
          </p14:sldIdLst>
        </p14:section>
        <p14:section name="Initial Conditions" id="{A3D4C894-FE8E-4F82-8FEA-8CDEAD484C40}">
          <p14:sldIdLst>
            <p14:sldId id="288"/>
            <p14:sldId id="292"/>
            <p14:sldId id="293"/>
            <p14:sldId id="291"/>
            <p14:sldId id="294"/>
          </p14:sldIdLst>
        </p14:section>
        <p14:section name="Unused Images" id="{C7D86EC3-75CF-4A87-84A1-F91916BC8AF9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45F31-0532-B685-C683-5FA8B4293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4BB59-EEC0-0120-CC6A-6583CF683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F7876-D9A5-929F-D1D7-FEAAB63F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6988-3E54-4E96-83C2-E79EB96AA973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A0104-A916-BB89-3864-0D9CB569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B9C9C-1A76-1DDD-ABB3-22DCCD667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7A6C-7241-4F58-9E0D-0713A14ED3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8224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13D5-3D30-BBD0-0939-50E426DB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5B2BA-D7F7-B365-8DED-81B9AA0F1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863BD-A1B2-F3FA-9AED-4E8D5D60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6988-3E54-4E96-83C2-E79EB96AA973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AB26D-9790-8328-4628-667803D51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39188-11B2-C5F9-87B7-ABE0A2A7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7A6C-7241-4F58-9E0D-0713A14ED3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6262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4E1CE-925B-F6E8-209E-A2834A19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770B2-F518-596A-0A70-236631C5A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57CC0-C4C9-DCA9-C253-41600225E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6988-3E54-4E96-83C2-E79EB96AA973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54645-3BAF-4EA3-B454-98BA2F45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AF420-4CDE-A23D-BC13-4DFF4122E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7A6C-7241-4F58-9E0D-0713A14ED3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841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BDB97-4461-9418-7505-DA07248EC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E2225-F98B-AFD1-CE8D-EB2786D08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78570-F9D5-BDF4-0962-FDD1766A9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7C6D5-D4CE-C1EC-C296-FEA0250B2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6988-3E54-4E96-83C2-E79EB96AA973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7D367-CB57-D508-73FC-BD67C31A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A27B1-3430-82EF-DE86-9ECD8C0D3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7A6C-7241-4F58-9E0D-0713A14ED3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2934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24B0-7BFF-C20C-7ED0-86747C7F1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19F4D-809F-53E2-FD86-0C6239A52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82A7D-40B4-3728-0DA4-F8E73613D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4E123D-24FE-FDB5-6F4A-DD636ED0E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BFD1E6-1823-E2E7-3717-59B424746D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F4CC42-FB3C-E3EA-3D62-4C4819214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6988-3E54-4E96-83C2-E79EB96AA973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AAD4C0-421B-44E2-64C1-17B282E1F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9DC25-2AD4-134C-940B-6A39A7CC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7A6C-7241-4F58-9E0D-0713A14ED3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6447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1F27F-516C-1530-0782-9E0A8E57B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2853"/>
            <a:ext cx="12192000" cy="136524"/>
          </a:xfrm>
        </p:spPr>
        <p:txBody>
          <a:bodyPr/>
          <a:lstStyle>
            <a:lvl1pPr>
              <a:defRPr sz="11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9AEDF-D164-6229-D7CD-B35FA6EE6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6988-3E54-4E96-83C2-E79EB96AA973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8F835F-D896-1377-1E6D-0EF655156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36F08-49C6-C4D5-5D90-8014CC17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7A6C-7241-4F58-9E0D-0713A14ED3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9070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953F60-5CE9-3E16-E50D-9B1231192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6988-3E54-4E96-83C2-E79EB96AA973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0FC4B-80A6-3232-A1A4-671365ABE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0AC50-59AD-EE65-D82C-947F160B5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7A6C-7241-4F58-9E0D-0713A14ED3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8608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9976-198E-F3DC-B8E6-21A25CD67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C4BD6-2D2E-0B71-2AC3-98FEA03B3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87B55-C11A-E615-6200-215A0FCC9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BE0E9-2CE6-D475-7293-6BA223C2A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6988-3E54-4E96-83C2-E79EB96AA973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B9D67-9512-0033-42EC-2DDDC5EE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38C6E-A26C-0CB0-5CA7-DC313DA25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7A6C-7241-4F58-9E0D-0713A14ED3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6252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26B79-6300-087E-0B27-DDC81480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14EFD4-2A7C-4588-D2FF-CE78F404DF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0B135-6A4F-2487-F116-F53CC7F4F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6FB26-128D-724E-E9C3-D0A04B2E2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6988-3E54-4E96-83C2-E79EB96AA973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CE351-EDEF-EAC8-5A59-BDEF1F61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E866B-FC79-C08B-1200-78C5949D6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7A6C-7241-4F58-9E0D-0713A14ED3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616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F9E84-FB81-0652-7C21-5AD56B30C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D89D7-F04C-F478-96F6-71C5042F2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D943F-0BA5-A89B-6773-8B68F250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6988-3E54-4E96-83C2-E79EB96AA973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77580-66B2-D2C5-133B-8FB931D9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A010E-2DF3-45AD-C4BE-9B72DD8AF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7A6C-7241-4F58-9E0D-0713A14ED3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157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CD944-C1C0-9909-8BB6-249B2DFEC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22379-B920-FBBE-DBD0-A44371E89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5A36C-FB33-2002-8ABF-E93738C5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6988-3E54-4E96-83C2-E79EB96AA973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2D71D-FFAB-5EEB-41D2-0055E3636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C61DB-2C1D-F144-DD1D-27C14B24D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7A6C-7241-4F58-9E0D-0713A14ED3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3698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BC2BCA-8090-F6AA-764E-B077AC517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4B193-ED14-DB98-37B9-6A76AE39D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3AE8E-65CF-5229-ABCF-95179334F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56988-3E54-4E96-83C2-E79EB96AA973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44D65-A1A2-DB03-FB68-ED6071B3A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7D143-D27F-F501-72ED-E7109506F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47A6C-7241-4F58-9E0D-0713A14ED34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9952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2E46F-EEB8-2F64-E516-676C2FEAC2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Model Build Images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9685F-8776-A7F2-2653-54595C30B2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331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D64AA6-E87C-2649-C11B-8BB4D3529F1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CA"/>
              <a:t>MESH_RegionalInitialFolderFiles.png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261E879-5172-549A-8BA7-5913FC7D1DF5}"/>
              </a:ext>
            </a:extLst>
          </p:cNvPr>
          <p:cNvGrpSpPr/>
          <p:nvPr/>
        </p:nvGrpSpPr>
        <p:grpSpPr>
          <a:xfrm>
            <a:off x="0" y="276225"/>
            <a:ext cx="12192000" cy="2857898"/>
            <a:chOff x="0" y="276225"/>
            <a:chExt cx="12192000" cy="285789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4A40D840-C2D2-A17A-7F0D-BE2A0883E3CC}"/>
                </a:ext>
              </a:extLst>
            </p:cNvPr>
            <p:cNvGrpSpPr/>
            <p:nvPr/>
          </p:nvGrpSpPr>
          <p:grpSpPr>
            <a:xfrm>
              <a:off x="0" y="276225"/>
              <a:ext cx="7068536" cy="2857898"/>
              <a:chOff x="824807" y="1567399"/>
              <a:chExt cx="7068536" cy="2857898"/>
            </a:xfrm>
          </p:grpSpPr>
          <p:pic>
            <p:nvPicPr>
              <p:cNvPr id="43" name="Picture 42" descr="A screenshot of a computer&#10;&#10;AI-generated content may be incorrect.">
                <a:extLst>
                  <a:ext uri="{FF2B5EF4-FFF2-40B4-BE49-F238E27FC236}">
                    <a16:creationId xmlns:a16="http://schemas.microsoft.com/office/drawing/2014/main" id="{5283266A-3631-F5B4-1D29-E8B0B2C4FC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24807" y="1567399"/>
                <a:ext cx="7068536" cy="285789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F3FEDCA-C4C5-22D6-3DD2-2B957E09CB25}"/>
                  </a:ext>
                </a:extLst>
              </p:cNvPr>
              <p:cNvSpPr txBox="1"/>
              <p:nvPr/>
            </p:nvSpPr>
            <p:spPr>
              <a:xfrm>
                <a:off x="2584197" y="2377103"/>
                <a:ext cx="1333500" cy="276999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/>
                  <a:t>MUT input file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E4F3DA2-7069-4C27-956E-45F2215A0ECF}"/>
                  </a:ext>
                </a:extLst>
              </p:cNvPr>
              <p:cNvSpPr txBox="1"/>
              <p:nvPr/>
            </p:nvSpPr>
            <p:spPr>
              <a:xfrm>
                <a:off x="4762500" y="3163418"/>
                <a:ext cx="1333500" cy="276999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/>
                  <a:t>Outer boundary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475F20-474C-2B56-5CC0-CA5090CFA183}"/>
                  </a:ext>
                </a:extLst>
              </p:cNvPr>
              <p:cNvSpPr txBox="1"/>
              <p:nvPr/>
            </p:nvSpPr>
            <p:spPr>
              <a:xfrm>
                <a:off x="4236424" y="3585772"/>
                <a:ext cx="2385652" cy="276999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/>
                  <a:t>Inner boundary of refinement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CBCD58-E873-E75F-B38A-6D85FED1877F}"/>
                  </a:ext>
                </a:extLst>
              </p:cNvPr>
              <p:cNvSpPr txBox="1"/>
              <p:nvPr/>
            </p:nvSpPr>
            <p:spPr>
              <a:xfrm>
                <a:off x="2584197" y="3980838"/>
                <a:ext cx="2385652" cy="276999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/>
                  <a:t>Local points of refinement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E44502-9BDA-0C46-04DD-F9538F345B7F}"/>
                  </a:ext>
                </a:extLst>
              </p:cNvPr>
              <p:cNvSpPr txBox="1"/>
              <p:nvPr/>
            </p:nvSpPr>
            <p:spPr>
              <a:xfrm>
                <a:off x="2584197" y="2781997"/>
                <a:ext cx="1333500" cy="276999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/>
                  <a:t>Tecplot layout file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0A6C3B0-2D16-7336-D578-A1E234C5356C}"/>
                </a:ext>
              </a:extLst>
            </p:cNvPr>
            <p:cNvSpPr txBox="1"/>
            <p:nvPr/>
          </p:nvSpPr>
          <p:spPr>
            <a:xfrm>
              <a:off x="0" y="276225"/>
              <a:ext cx="1219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 </a:t>
              </a:r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83343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36C6-8516-FF81-24A5-BFFEBAA18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/>
              <a:t>MUT_2DMeshInput.png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A36DAF4-6876-5F9E-CD5E-3BF14145A8B2}"/>
              </a:ext>
            </a:extLst>
          </p:cNvPr>
          <p:cNvGrpSpPr/>
          <p:nvPr/>
        </p:nvGrpSpPr>
        <p:grpSpPr>
          <a:xfrm>
            <a:off x="1" y="276225"/>
            <a:ext cx="10877550" cy="6149805"/>
            <a:chOff x="1" y="276225"/>
            <a:chExt cx="10877550" cy="614980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35031BE-5EEE-247F-8A1F-45EB5FCF335A}"/>
                </a:ext>
              </a:extLst>
            </p:cNvPr>
            <p:cNvGrpSpPr/>
            <p:nvPr/>
          </p:nvGrpSpPr>
          <p:grpSpPr>
            <a:xfrm>
              <a:off x="71766" y="396194"/>
              <a:ext cx="7109678" cy="6029836"/>
              <a:chOff x="71766" y="396194"/>
              <a:chExt cx="7109678" cy="6029836"/>
            </a:xfrm>
          </p:grpSpPr>
          <p:pic>
            <p:nvPicPr>
              <p:cNvPr id="11" name="Picture 10" descr="A screenshot of a computer&#10;&#10;AI-generated content may be incorrect.">
                <a:extLst>
                  <a:ext uri="{FF2B5EF4-FFF2-40B4-BE49-F238E27FC236}">
                    <a16:creationId xmlns:a16="http://schemas.microsoft.com/office/drawing/2014/main" id="{874B3C75-223F-16D8-E15F-717AAB6759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766" y="396194"/>
                <a:ext cx="7109678" cy="602983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F5B87B-FC75-54C3-618A-06E12E149C90}"/>
                  </a:ext>
                </a:extLst>
              </p:cNvPr>
              <p:cNvSpPr txBox="1"/>
              <p:nvPr/>
            </p:nvSpPr>
            <p:spPr>
              <a:xfrm>
                <a:off x="3561754" y="1973719"/>
                <a:ext cx="2645049" cy="646331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 sz="1800"/>
                  <a:t>Regional boundary forms mesh outer boundary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41ECBF-6DE7-AE6D-CBA9-A8FDC89B1932}"/>
                  </a:ext>
                </a:extLst>
              </p:cNvPr>
              <p:cNvSpPr txBox="1"/>
              <p:nvPr/>
            </p:nvSpPr>
            <p:spPr>
              <a:xfrm>
                <a:off x="3169374" y="1278668"/>
                <a:ext cx="1404450" cy="369332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 sz="1800"/>
                  <a:t>Mesh prefix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24725A-DC70-2EF3-663F-FF620FC479BB}"/>
                  </a:ext>
                </a:extLst>
              </p:cNvPr>
              <p:cNvSpPr txBox="1"/>
              <p:nvPr/>
            </p:nvSpPr>
            <p:spPr>
              <a:xfrm>
                <a:off x="3083649" y="2807270"/>
                <a:ext cx="3217434" cy="646331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 sz="1800"/>
                  <a:t>Rough element size inside outer boundary will be 300 m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C3850C-0273-4479-78A8-21E17AF20B22}"/>
                  </a:ext>
                </a:extLst>
              </p:cNvPr>
              <p:cNvSpPr txBox="1"/>
              <p:nvPr/>
            </p:nvSpPr>
            <p:spPr>
              <a:xfrm>
                <a:off x="3083649" y="3757211"/>
                <a:ext cx="3217434" cy="923330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 sz="1800"/>
                  <a:t>Refine the region inside the site boundary to roughly 150 m (half original target size)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BA1C10-F2CA-A7CE-D8FE-114E8560E1A3}"/>
                  </a:ext>
                </a:extLst>
              </p:cNvPr>
              <p:cNvSpPr txBox="1"/>
              <p:nvPr/>
            </p:nvSpPr>
            <p:spPr>
              <a:xfrm>
                <a:off x="3083649" y="4992315"/>
                <a:ext cx="3671684" cy="923330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 sz="1800"/>
                  <a:t>Refine the cells containing node nearest the x,y location of the shaft to roughly 10 m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C7B3E3-41A7-6A51-841B-FC30527237A2}"/>
                  </a:ext>
                </a:extLst>
              </p:cNvPr>
              <p:cNvSpPr txBox="1"/>
              <p:nvPr/>
            </p:nvSpPr>
            <p:spPr>
              <a:xfrm>
                <a:off x="4692366" y="707968"/>
                <a:ext cx="2435818" cy="369332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 sz="1800"/>
                  <a:t>Comments begin with !</a:t>
                </a: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59417C9-0DC8-2B0B-7C65-D70CE37886E4}"/>
                </a:ext>
              </a:extLst>
            </p:cNvPr>
            <p:cNvSpPr txBox="1"/>
            <p:nvPr/>
          </p:nvSpPr>
          <p:spPr>
            <a:xfrm>
              <a:off x="1" y="276225"/>
              <a:ext cx="10877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 </a:t>
              </a:r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738073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B8751-4BC3-1019-6298-6A2786F1B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F7613-E415-CD6D-9D78-FBF5042AE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/>
              <a:t>MUT_2DMeshInput.png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10DC95-7F39-2828-C665-648034BD0BDD}"/>
              </a:ext>
            </a:extLst>
          </p:cNvPr>
          <p:cNvGrpSpPr/>
          <p:nvPr/>
        </p:nvGrpSpPr>
        <p:grpSpPr>
          <a:xfrm>
            <a:off x="71766" y="324467"/>
            <a:ext cx="10834359" cy="6072311"/>
            <a:chOff x="71766" y="324467"/>
            <a:chExt cx="10834359" cy="607231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2E355AF-F9EB-7740-8426-4AA5B5514389}"/>
                </a:ext>
              </a:extLst>
            </p:cNvPr>
            <p:cNvGrpSpPr/>
            <p:nvPr/>
          </p:nvGrpSpPr>
          <p:grpSpPr>
            <a:xfrm>
              <a:off x="71766" y="324467"/>
              <a:ext cx="10653980" cy="6072311"/>
              <a:chOff x="71766" y="389495"/>
              <a:chExt cx="10653980" cy="6072311"/>
            </a:xfrm>
          </p:grpSpPr>
          <p:pic>
            <p:nvPicPr>
              <p:cNvPr id="14" name="Picture 13" descr="A screenshot of a computer program&#10;&#10;AI-generated content may be incorrect.">
                <a:extLst>
                  <a:ext uri="{FF2B5EF4-FFF2-40B4-BE49-F238E27FC236}">
                    <a16:creationId xmlns:a16="http://schemas.microsoft.com/office/drawing/2014/main" id="{B8433BB4-AC70-18B2-B00C-8A37CE7381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766" y="389495"/>
                <a:ext cx="10653980" cy="607231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8BD0CC-3A84-FB0C-A463-449CE6889151}"/>
                  </a:ext>
                </a:extLst>
              </p:cNvPr>
              <p:cNvSpPr txBox="1"/>
              <p:nvPr/>
            </p:nvSpPr>
            <p:spPr>
              <a:xfrm>
                <a:off x="5257204" y="1935619"/>
                <a:ext cx="2645049" cy="646331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 sz="1800"/>
                  <a:t>Regional boundary forms mesh outer boundary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FEFA8C-0A21-62C3-DD12-97578FC80855}"/>
                  </a:ext>
                </a:extLst>
              </p:cNvPr>
              <p:cNvSpPr txBox="1"/>
              <p:nvPr/>
            </p:nvSpPr>
            <p:spPr>
              <a:xfrm>
                <a:off x="5175278" y="1335636"/>
                <a:ext cx="1404450" cy="369332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 sz="1800"/>
                  <a:t>Mesh prefix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D66550-B9C4-AC62-EB0B-CC08F036BC6E}"/>
                  </a:ext>
                </a:extLst>
              </p:cNvPr>
              <p:cNvSpPr txBox="1"/>
              <p:nvPr/>
            </p:nvSpPr>
            <p:spPr>
              <a:xfrm>
                <a:off x="4779099" y="2816795"/>
                <a:ext cx="3217434" cy="646331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 sz="1800"/>
                  <a:t>Rough element size inside outer boundary will be 300 m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814268-B54D-6FA6-6416-D4690D5AA43C}"/>
                  </a:ext>
                </a:extLst>
              </p:cNvPr>
              <p:cNvSpPr txBox="1"/>
              <p:nvPr/>
            </p:nvSpPr>
            <p:spPr>
              <a:xfrm>
                <a:off x="4779099" y="3766736"/>
                <a:ext cx="3217434" cy="923330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 sz="1800"/>
                  <a:t>Refine the region inside the site boundary to roughly 150 m (half original target size)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682F09-9DC1-3FF6-D93C-97565EB46D7A}"/>
                  </a:ext>
                </a:extLst>
              </p:cNvPr>
              <p:cNvSpPr txBox="1"/>
              <p:nvPr/>
            </p:nvSpPr>
            <p:spPr>
              <a:xfrm>
                <a:off x="4779099" y="5001840"/>
                <a:ext cx="3671684" cy="923330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 sz="1800"/>
                  <a:t>Refine the cells containing node nearest the x,y location of the shaft to roughly 10 m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BFCAF4-4524-67BC-9DB0-2C8E034DEC2A}"/>
                  </a:ext>
                </a:extLst>
              </p:cNvPr>
              <p:cNvSpPr txBox="1"/>
              <p:nvPr/>
            </p:nvSpPr>
            <p:spPr>
              <a:xfrm>
                <a:off x="6473541" y="812743"/>
                <a:ext cx="2435818" cy="369332"/>
              </a:xfrm>
              <a:prstGeom prst="rect">
                <a:avLst/>
              </a:prstGeom>
              <a:solidFill>
                <a:srgbClr val="FFFFA7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/>
                </a:lvl1pPr>
              </a:lstStyle>
              <a:p>
                <a:r>
                  <a:rPr lang="en-CA" sz="1800"/>
                  <a:t>Comments begin with !</a:t>
                </a: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8370073-00D1-32DE-BCC8-0B8E36FD7EE2}"/>
                </a:ext>
              </a:extLst>
            </p:cNvPr>
            <p:cNvSpPr txBox="1"/>
            <p:nvPr/>
          </p:nvSpPr>
          <p:spPr>
            <a:xfrm>
              <a:off x="71766" y="324467"/>
              <a:ext cx="10834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 </a:t>
              </a:r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310862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7155-294B-CB70-CE0B-589E97366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609041-0879-9A20-4CEE-0907E76515E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CA"/>
              <a:t>MESH_RegionalFinalFolderFiles.png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B2D9B2B-690E-6B68-0B21-5714B0176FB1}"/>
              </a:ext>
            </a:extLst>
          </p:cNvPr>
          <p:cNvGrpSpPr/>
          <p:nvPr/>
        </p:nvGrpSpPr>
        <p:grpSpPr>
          <a:xfrm>
            <a:off x="0" y="276225"/>
            <a:ext cx="12192000" cy="3242580"/>
            <a:chOff x="0" y="276225"/>
            <a:chExt cx="12192000" cy="3242580"/>
          </a:xfrm>
        </p:grpSpPr>
        <p:pic>
          <p:nvPicPr>
            <p:cNvPr id="2" name="Picture 1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0981AB5D-E7F5-39C4-58CB-148FB9722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79853"/>
              <a:ext cx="7220958" cy="32389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8CC6DE0-8CF6-D24A-D588-A0F348EF9DEC}"/>
                </a:ext>
              </a:extLst>
            </p:cNvPr>
            <p:cNvSpPr txBox="1"/>
            <p:nvPr/>
          </p:nvSpPr>
          <p:spPr>
            <a:xfrm>
              <a:off x="6483790" y="1054658"/>
              <a:ext cx="1333500" cy="276999"/>
            </a:xfrm>
            <a:prstGeom prst="rect">
              <a:avLst/>
            </a:prstGeom>
            <a:solidFill>
              <a:srgbClr val="FFFFA7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r>
                <a:rPr lang="en-CA"/>
                <a:t>Binary Mesh file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642F4F7-02D3-C2EE-0BE9-FE522BC5EA3D}"/>
                </a:ext>
              </a:extLst>
            </p:cNvPr>
            <p:cNvSpPr txBox="1"/>
            <p:nvPr/>
          </p:nvSpPr>
          <p:spPr>
            <a:xfrm>
              <a:off x="6957117" y="1477138"/>
              <a:ext cx="2082107" cy="276999"/>
            </a:xfrm>
            <a:prstGeom prst="rect">
              <a:avLst/>
            </a:prstGeom>
            <a:solidFill>
              <a:srgbClr val="FFFFA7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r>
                <a:rPr lang="en-CA"/>
                <a:t>Mesh element xyz coordinates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F325AF-06FE-6A52-4852-1302BCBCD00F}"/>
                </a:ext>
              </a:extLst>
            </p:cNvPr>
            <p:cNvSpPr txBox="1"/>
            <p:nvPr/>
          </p:nvSpPr>
          <p:spPr>
            <a:xfrm>
              <a:off x="6745367" y="1889804"/>
              <a:ext cx="2385652" cy="276999"/>
            </a:xfrm>
            <a:prstGeom prst="rect">
              <a:avLst/>
            </a:prstGeom>
            <a:solidFill>
              <a:srgbClr val="FFFFA7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r>
                <a:rPr lang="en-CA"/>
                <a:t>Mesh node xyz coordinates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6FC3EA-98F2-69B5-74AB-86FBA70DA7CE}"/>
                </a:ext>
              </a:extLst>
            </p:cNvPr>
            <p:cNvSpPr txBox="1"/>
            <p:nvPr/>
          </p:nvSpPr>
          <p:spPr>
            <a:xfrm>
              <a:off x="6745367" y="2298905"/>
              <a:ext cx="2385652" cy="276999"/>
            </a:xfrm>
            <a:prstGeom prst="rect">
              <a:avLst/>
            </a:prstGeom>
            <a:solidFill>
              <a:srgbClr val="FFFFA7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r>
                <a:rPr lang="en-CA"/>
                <a:t>Tecplot-formatted output file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EB8F5A9-0945-7A39-26CD-BFA1A12F9A62}"/>
                </a:ext>
              </a:extLst>
            </p:cNvPr>
            <p:cNvSpPr txBox="1"/>
            <p:nvPr/>
          </p:nvSpPr>
          <p:spPr>
            <a:xfrm>
              <a:off x="0" y="276225"/>
              <a:ext cx="1219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 </a:t>
              </a:r>
              <a:endParaRPr lang="en-CA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4664BCE-FB80-37EE-D562-C550144198C6}"/>
                </a:ext>
              </a:extLst>
            </p:cNvPr>
            <p:cNvCxnSpPr/>
            <p:nvPr/>
          </p:nvCxnSpPr>
          <p:spPr>
            <a:xfrm flipH="1">
              <a:off x="1457325" y="2437404"/>
              <a:ext cx="2590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390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70C8-5EBD-3FB4-F6EC-298E896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21" y="29255"/>
            <a:ext cx="10515600" cy="214539"/>
          </a:xfrm>
        </p:spPr>
        <p:txBody>
          <a:bodyPr>
            <a:normAutofit fontScale="90000"/>
          </a:bodyPr>
          <a:lstStyle/>
          <a:p>
            <a:r>
              <a:rPr lang="en-CA"/>
              <a:t>MUT_2DMeshInTecplot.png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B4F99E7-B8C4-5269-F020-21064DA5E6EF}"/>
              </a:ext>
            </a:extLst>
          </p:cNvPr>
          <p:cNvGrpSpPr/>
          <p:nvPr/>
        </p:nvGrpSpPr>
        <p:grpSpPr>
          <a:xfrm>
            <a:off x="1400175" y="545494"/>
            <a:ext cx="9473390" cy="5817206"/>
            <a:chOff x="1400175" y="545494"/>
            <a:chExt cx="9473390" cy="5817206"/>
          </a:xfrm>
        </p:grpSpPr>
        <p:pic>
          <p:nvPicPr>
            <p:cNvPr id="14" name="Picture 13" descr="A screen shot of a computer screen&#10;&#10;AI-generated content may be incorrect.">
              <a:extLst>
                <a:ext uri="{FF2B5EF4-FFF2-40B4-BE49-F238E27FC236}">
                  <a16:creationId xmlns:a16="http://schemas.microsoft.com/office/drawing/2014/main" id="{8B9DAAFB-5232-F6DB-3E2D-B47E6CDEA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0175" y="545494"/>
              <a:ext cx="9473390" cy="58172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39F247-FCF1-5E1B-C010-0AF1A8C69378}"/>
                </a:ext>
              </a:extLst>
            </p:cNvPr>
            <p:cNvSpPr txBox="1"/>
            <p:nvPr/>
          </p:nvSpPr>
          <p:spPr>
            <a:xfrm>
              <a:off x="3585383" y="747484"/>
              <a:ext cx="2320116" cy="646331"/>
            </a:xfrm>
            <a:prstGeom prst="rect">
              <a:avLst/>
            </a:prstGeom>
            <a:solidFill>
              <a:srgbClr val="FFFFA7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r>
                <a:rPr lang="en-CA" sz="1800"/>
                <a:t>Refined region inside the site boundary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46CB82-9305-79A5-9410-FE0C60717484}"/>
                </a:ext>
              </a:extLst>
            </p:cNvPr>
            <p:cNvSpPr txBox="1"/>
            <p:nvPr/>
          </p:nvSpPr>
          <p:spPr>
            <a:xfrm>
              <a:off x="1570456" y="5016525"/>
              <a:ext cx="1629555" cy="646331"/>
            </a:xfrm>
            <a:prstGeom prst="rect">
              <a:avLst/>
            </a:prstGeom>
            <a:solidFill>
              <a:srgbClr val="FFFFA7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r>
                <a:rPr lang="en-CA" sz="1800"/>
                <a:t>Refined region at well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9868B50-15CB-8DD2-D756-E932EA2BB6A1}"/>
                </a:ext>
              </a:extLst>
            </p:cNvPr>
            <p:cNvSpPr/>
            <p:nvPr/>
          </p:nvSpPr>
          <p:spPr>
            <a:xfrm>
              <a:off x="4028301" y="3053229"/>
              <a:ext cx="933450" cy="1257299"/>
            </a:xfrm>
            <a:prstGeom prst="ellipse">
              <a:avLst/>
            </a:prstGeom>
            <a:noFill/>
            <a:ln w="4762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8FBED1D-CEFC-DF3D-F8A4-82B68C4106C8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 flipH="1">
              <a:off x="4495026" y="1393815"/>
              <a:ext cx="250415" cy="16594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FFBABB8-BD8F-F603-04D6-B6A37A71A56C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2385234" y="3652610"/>
              <a:ext cx="2005402" cy="13639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D390D86-2BD2-1CFC-0520-44C780137050}"/>
                </a:ext>
              </a:extLst>
            </p:cNvPr>
            <p:cNvSpPr/>
            <p:nvPr/>
          </p:nvSpPr>
          <p:spPr>
            <a:xfrm>
              <a:off x="7162801" y="3520753"/>
              <a:ext cx="695325" cy="298318"/>
            </a:xfrm>
            <a:prstGeom prst="rect">
              <a:avLst/>
            </a:prstGeom>
            <a:noFill/>
            <a:ln w="4762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6708FE-8659-B04C-8839-EA5D7E655A09}"/>
                </a:ext>
              </a:extLst>
            </p:cNvPr>
            <p:cNvSpPr txBox="1"/>
            <p:nvPr/>
          </p:nvSpPr>
          <p:spPr>
            <a:xfrm>
              <a:off x="6436715" y="5212085"/>
              <a:ext cx="2842823" cy="646331"/>
            </a:xfrm>
            <a:prstGeom prst="rect">
              <a:avLst/>
            </a:prstGeom>
            <a:solidFill>
              <a:srgbClr val="FFFFA7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r>
                <a:rPr lang="en-CA" sz="1800"/>
                <a:t>Number of nodes 2911</a:t>
              </a:r>
            </a:p>
            <a:p>
              <a:r>
                <a:rPr lang="en-CA" sz="1800"/>
                <a:t>Number of Elements 5670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07C0F87-1128-58FC-2FA0-100CF6CCD914}"/>
                </a:ext>
              </a:extLst>
            </p:cNvPr>
            <p:cNvCxnSpPr>
              <a:cxnSpLocks/>
              <a:stCxn id="17" idx="0"/>
              <a:endCxn id="16" idx="2"/>
            </p:cNvCxnSpPr>
            <p:nvPr/>
          </p:nvCxnSpPr>
          <p:spPr>
            <a:xfrm flipH="1" flipV="1">
              <a:off x="7510464" y="3819071"/>
              <a:ext cx="347663" cy="13930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678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7D8A-C65E-B575-1F58-E917C4439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MUT_InitialGWFHead.png</a:t>
            </a:r>
            <a:endParaRPr lang="en-CA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292120-A393-E93F-6D89-FE5669A38336}"/>
              </a:ext>
            </a:extLst>
          </p:cNvPr>
          <p:cNvGrpSpPr/>
          <p:nvPr/>
        </p:nvGrpSpPr>
        <p:grpSpPr>
          <a:xfrm>
            <a:off x="0" y="276225"/>
            <a:ext cx="12192000" cy="1419225"/>
            <a:chOff x="0" y="276225"/>
            <a:chExt cx="12192000" cy="1419225"/>
          </a:xfrm>
        </p:grpSpPr>
        <p:pic>
          <p:nvPicPr>
            <p:cNvPr id="6" name="Picture 5" descr="A screen shot of a computer program&#10;&#10;AI-generated content may be incorrect.">
              <a:extLst>
                <a:ext uri="{FF2B5EF4-FFF2-40B4-BE49-F238E27FC236}">
                  <a16:creationId xmlns:a16="http://schemas.microsoft.com/office/drawing/2014/main" id="{66774F75-8EF7-8E76-8B9C-3F8A5CD40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2633" b="47319"/>
            <a:stretch>
              <a:fillRect/>
            </a:stretch>
          </p:blipFill>
          <p:spPr>
            <a:xfrm>
              <a:off x="0" y="276225"/>
              <a:ext cx="10088383" cy="14192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A119C78-5C5A-03F7-C30E-AA2375D507B5}"/>
                </a:ext>
              </a:extLst>
            </p:cNvPr>
            <p:cNvSpPr txBox="1"/>
            <p:nvPr/>
          </p:nvSpPr>
          <p:spPr>
            <a:xfrm>
              <a:off x="0" y="276225"/>
              <a:ext cx="1219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 </a:t>
              </a:r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767815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4438F-8A29-9449-1E59-4E2324C71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583D2-ED5F-CFB3-A93D-9DCEE9A6D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MUT_InitialSWFHead.png</a:t>
            </a:r>
            <a:endParaRPr lang="en-CA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B34F484-7E42-D37B-2A4F-322E0DD321EB}"/>
              </a:ext>
            </a:extLst>
          </p:cNvPr>
          <p:cNvGrpSpPr/>
          <p:nvPr/>
        </p:nvGrpSpPr>
        <p:grpSpPr>
          <a:xfrm>
            <a:off x="0" y="276225"/>
            <a:ext cx="12192000" cy="1409897"/>
            <a:chOff x="0" y="276225"/>
            <a:chExt cx="12192000" cy="1409897"/>
          </a:xfrm>
        </p:grpSpPr>
        <p:pic>
          <p:nvPicPr>
            <p:cNvPr id="4" name="Picture 3" descr="A close-up of a computer&#10;&#10;AI-generated content may be incorrect.">
              <a:extLst>
                <a:ext uri="{FF2B5EF4-FFF2-40B4-BE49-F238E27FC236}">
                  <a16:creationId xmlns:a16="http://schemas.microsoft.com/office/drawing/2014/main" id="{13522EB1-B811-50F5-9C2D-4FDBDFCC8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76225"/>
              <a:ext cx="9678751" cy="140989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F93713-F2DF-0B2E-B8C8-DB23BF26D815}"/>
                </a:ext>
              </a:extLst>
            </p:cNvPr>
            <p:cNvSpPr txBox="1"/>
            <p:nvPr/>
          </p:nvSpPr>
          <p:spPr>
            <a:xfrm>
              <a:off x="0" y="276225"/>
              <a:ext cx="1219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 </a:t>
              </a:r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63114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050F0-2EAB-B928-47B9-F7E776606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F2942-B9A1-17A1-E0AE-EB2C522C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MUT_InitialCLNHead.png</a:t>
            </a:r>
            <a:endParaRPr lang="en-CA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50F4AE4-8FC6-75C2-A4B0-8CDAB1D272D9}"/>
              </a:ext>
            </a:extLst>
          </p:cNvPr>
          <p:cNvGrpSpPr/>
          <p:nvPr/>
        </p:nvGrpSpPr>
        <p:grpSpPr>
          <a:xfrm>
            <a:off x="0" y="276225"/>
            <a:ext cx="12192000" cy="1552792"/>
            <a:chOff x="0" y="276225"/>
            <a:chExt cx="12192000" cy="1552792"/>
          </a:xfrm>
        </p:grpSpPr>
        <p:pic>
          <p:nvPicPr>
            <p:cNvPr id="4" name="Picture 3" descr="A close-up of a computer screen&#10;&#10;AI-generated content may be incorrect.">
              <a:extLst>
                <a:ext uri="{FF2B5EF4-FFF2-40B4-BE49-F238E27FC236}">
                  <a16:creationId xmlns:a16="http://schemas.microsoft.com/office/drawing/2014/main" id="{069F7B05-CCEB-80D6-D5B8-507AECE1E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76225"/>
              <a:ext cx="9850225" cy="15527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B44B7F0-AFEA-9971-3F6E-BC1DE6CCBE14}"/>
                </a:ext>
              </a:extLst>
            </p:cNvPr>
            <p:cNvSpPr txBox="1"/>
            <p:nvPr/>
          </p:nvSpPr>
          <p:spPr>
            <a:xfrm>
              <a:off x="0" y="276225"/>
              <a:ext cx="1219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 </a:t>
              </a:r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855484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C766-00DE-3D69-15B4-6C309BCC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MUT_IheadDepthSat.png</a:t>
            </a:r>
            <a:endParaRPr lang="en-CA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482DBAE-7245-F14F-96A6-4FE0286E97B2}"/>
              </a:ext>
            </a:extLst>
          </p:cNvPr>
          <p:cNvGrpSpPr/>
          <p:nvPr/>
        </p:nvGrpSpPr>
        <p:grpSpPr>
          <a:xfrm>
            <a:off x="0" y="276225"/>
            <a:ext cx="12192000" cy="3572374"/>
            <a:chOff x="0" y="276225"/>
            <a:chExt cx="12192000" cy="3572374"/>
          </a:xfrm>
        </p:grpSpPr>
        <p:pic>
          <p:nvPicPr>
            <p:cNvPr id="6" name="Picture 5" descr="A number of numbers on a white background&#10;&#10;AI-generated content may be incorrect.">
              <a:extLst>
                <a:ext uri="{FF2B5EF4-FFF2-40B4-BE49-F238E27FC236}">
                  <a16:creationId xmlns:a16="http://schemas.microsoft.com/office/drawing/2014/main" id="{D2D80B12-83B3-CE19-C2C5-BE1FD93EC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76225"/>
              <a:ext cx="7697274" cy="357237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A8D681-197F-E656-7067-9DCB41118FFA}"/>
                </a:ext>
              </a:extLst>
            </p:cNvPr>
            <p:cNvSpPr txBox="1"/>
            <p:nvPr/>
          </p:nvSpPr>
          <p:spPr>
            <a:xfrm>
              <a:off x="0" y="276225"/>
              <a:ext cx="1219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 </a:t>
              </a:r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219448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359FCC-1B5E-0ADB-252A-561A9035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48" y="-16329"/>
            <a:ext cx="1042347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AC28A7-27AC-1BBB-3FD0-FEA3AB8E9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MUT_IHeadFromTecplot_1.png</a:t>
            </a:r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6CC024-A0B2-9523-0C54-E7859E52BE1E}"/>
              </a:ext>
            </a:extLst>
          </p:cNvPr>
          <p:cNvSpPr/>
          <p:nvPr/>
        </p:nvSpPr>
        <p:spPr>
          <a:xfrm>
            <a:off x="3648075" y="3457575"/>
            <a:ext cx="457200" cy="200026"/>
          </a:xfrm>
          <a:prstGeom prst="rect">
            <a:avLst/>
          </a:prstGeom>
          <a:noFill/>
          <a:ln w="476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E3C05D-C190-4A22-8C07-211380B89731}"/>
              </a:ext>
            </a:extLst>
          </p:cNvPr>
          <p:cNvSpPr/>
          <p:nvPr/>
        </p:nvSpPr>
        <p:spPr>
          <a:xfrm>
            <a:off x="3539014" y="4871604"/>
            <a:ext cx="1037273" cy="181842"/>
          </a:xfrm>
          <a:prstGeom prst="rect">
            <a:avLst/>
          </a:prstGeom>
          <a:noFill/>
          <a:ln w="476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1C15F9-293E-49F4-B428-AD87AB311078}"/>
              </a:ext>
            </a:extLst>
          </p:cNvPr>
          <p:cNvSpPr/>
          <p:nvPr/>
        </p:nvSpPr>
        <p:spPr>
          <a:xfrm>
            <a:off x="4576287" y="3931569"/>
            <a:ext cx="485775" cy="167118"/>
          </a:xfrm>
          <a:prstGeom prst="rect">
            <a:avLst/>
          </a:prstGeom>
          <a:noFill/>
          <a:ln w="476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9B6BD4-B916-66E1-C25A-8BEF9B610AA6}"/>
              </a:ext>
            </a:extLst>
          </p:cNvPr>
          <p:cNvSpPr/>
          <p:nvPr/>
        </p:nvSpPr>
        <p:spPr>
          <a:xfrm>
            <a:off x="5925457" y="3931569"/>
            <a:ext cx="587788" cy="167118"/>
          </a:xfrm>
          <a:prstGeom prst="rect">
            <a:avLst/>
          </a:prstGeom>
          <a:noFill/>
          <a:ln w="476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4952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C1D118E-FEAF-D854-3D84-4BCD3EB70B7C}"/>
              </a:ext>
            </a:extLst>
          </p:cNvPr>
          <p:cNvSpPr txBox="1"/>
          <p:nvPr/>
        </p:nvSpPr>
        <p:spPr>
          <a:xfrm>
            <a:off x="1200009" y="690545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0B44B2-8BB8-F1D1-A8D6-A5875057CB1B}"/>
              </a:ext>
            </a:extLst>
          </p:cNvPr>
          <p:cNvSpPr txBox="1"/>
          <p:nvPr/>
        </p:nvSpPr>
        <p:spPr>
          <a:xfrm>
            <a:off x="1200009" y="4526672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9D4D18-18A8-14B5-AF94-4AEEE931CE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76" b="79048"/>
          <a:stretch/>
        </p:blipFill>
        <p:spPr>
          <a:xfrm>
            <a:off x="4215247" y="414897"/>
            <a:ext cx="2007460" cy="15571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52CBC0-5A4A-875E-36CD-0E8E7B22B2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631" b="32281"/>
          <a:stretch/>
        </p:blipFill>
        <p:spPr>
          <a:xfrm>
            <a:off x="1271867" y="1862548"/>
            <a:ext cx="8282607" cy="258460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07592A4-4FDE-D794-C03F-32EC1A4B3514}"/>
              </a:ext>
            </a:extLst>
          </p:cNvPr>
          <p:cNvSpPr/>
          <p:nvPr/>
        </p:nvSpPr>
        <p:spPr>
          <a:xfrm>
            <a:off x="1646379" y="690545"/>
            <a:ext cx="1515921" cy="14369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82EE78-253D-6769-7760-D9FF9403F4A7}"/>
              </a:ext>
            </a:extLst>
          </p:cNvPr>
          <p:cNvSpPr txBox="1"/>
          <p:nvPr/>
        </p:nvSpPr>
        <p:spPr>
          <a:xfrm>
            <a:off x="1194399" y="236257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b)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8EA5747-4452-BC48-909B-3CD75EDB9FB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4" t="33195" r="9290" b="34861"/>
          <a:stretch/>
        </p:blipFill>
        <p:spPr>
          <a:xfrm>
            <a:off x="1493979" y="4291557"/>
            <a:ext cx="7449996" cy="176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4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11919</TotalTime>
  <Words>231</Words>
  <Application>Microsoft Office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Model Build Images</vt:lpstr>
      <vt:lpstr>MESH_RegionalInitialFolderFiles.png</vt:lpstr>
      <vt:lpstr>MUT_2DMeshInput.png</vt:lpstr>
      <vt:lpstr>MUT_2DMeshInput.png</vt:lpstr>
      <vt:lpstr>MESH_RegionalFinalFolderFiles.png</vt:lpstr>
      <vt:lpstr>MUT_2DMeshInTecplot.png</vt:lpstr>
      <vt:lpstr>MUT_InitialGWFHead.png</vt:lpstr>
      <vt:lpstr>MUT_InitialSWFHead.png</vt:lpstr>
      <vt:lpstr>MUT_InitialCLNHead.png</vt:lpstr>
      <vt:lpstr>MUT_IheadDepthSat.png</vt:lpstr>
      <vt:lpstr>MUT_IHeadFromTecplot_1.png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McLaren</dc:creator>
  <cp:lastModifiedBy>Rob McLaren</cp:lastModifiedBy>
  <cp:revision>2</cp:revision>
  <dcterms:created xsi:type="dcterms:W3CDTF">2024-08-28T17:21:40Z</dcterms:created>
  <dcterms:modified xsi:type="dcterms:W3CDTF">2025-12-14T21:17:56Z</dcterms:modified>
</cp:coreProperties>
</file>